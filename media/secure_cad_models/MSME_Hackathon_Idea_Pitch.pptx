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8/1/2026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8/1/2026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8/1/2026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falconebiz.com/director/11247098/BALKISAN-DURGAYYA-CHINTAL" TargetMode="External"/><Relationship Id="rId2" Type="http://schemas.openxmlformats.org/officeDocument/2006/relationships/hyperlink" Target="https://www.falconebiz.com/director/11247099/BHOOMIKA-BALKISAN-CHINTA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Winning Idea Presentation</a:t>
            </a:r>
          </a:p>
        </p:txBody>
      </p:sp>
      <p:sp>
        <p:nvSpPr>
          <p:cNvPr id="3" name="Subtitle 2"/>
          <p:cNvSpPr>
            <a:spLocks noGrp="1"/>
          </p:cNvSpPr>
          <p:nvPr>
            <p:ph type="subTitle" idx="1"/>
          </p:nvPr>
        </p:nvSpPr>
        <p:spPr/>
        <p:txBody>
          <a:bodyPr>
            <a:normAutofit/>
          </a:bodyPr>
          <a:lstStyle/>
          <a:p>
            <a:pPr algn="l"/>
            <a:r>
              <a:rPr lang="en-GB" sz="2400" dirty="0" smtClean="0">
                <a:solidFill>
                  <a:schemeClr val="tx1"/>
                </a:solidFill>
              </a:rPr>
              <a:t>Theme</a:t>
            </a:r>
            <a:r>
              <a:rPr lang="en-GB" sz="2400" dirty="0" smtClean="0">
                <a:solidFill>
                  <a:schemeClr val="tx1"/>
                </a:solidFill>
              </a:rPr>
              <a:t>: Automotive </a:t>
            </a:r>
            <a:r>
              <a:rPr lang="en-GB" sz="2400" dirty="0" smtClean="0">
                <a:solidFill>
                  <a:schemeClr val="tx1"/>
                </a:solidFill>
              </a:rPr>
              <a:t>Technology</a:t>
            </a:r>
            <a:endParaRPr lang="en-GB" sz="2400" dirty="0">
              <a:solidFill>
                <a:schemeClr val="tx1"/>
              </a:solidFill>
            </a:endParaRPr>
          </a:p>
          <a:p>
            <a:pPr algn="l"/>
            <a:r>
              <a:rPr lang="en-GB" sz="2400" dirty="0">
                <a:solidFill>
                  <a:schemeClr val="tx1"/>
                </a:solidFill>
              </a:rPr>
              <a:t>Reference No</a:t>
            </a:r>
            <a:r>
              <a:rPr lang="en-GB" sz="2400" dirty="0" smtClean="0">
                <a:solidFill>
                  <a:schemeClr val="tx1"/>
                </a:solidFill>
              </a:rPr>
              <a:t>: 26INC06MH003325 </a:t>
            </a:r>
            <a:endParaRPr sz="24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normAutofit fontScale="47500" lnSpcReduction="20000"/>
          </a:bodyPr>
          <a:lstStyle/>
          <a:p>
            <a:pPr>
              <a:defRPr sz="2200"/>
            </a:pPr>
            <a:r>
              <a:t>• What problem are you </a:t>
            </a:r>
            <a:r>
              <a:rPr/>
              <a:t>solving</a:t>
            </a:r>
            <a:r>
              <a:rPr smtClean="0"/>
              <a:t>?</a:t>
            </a:r>
            <a:endParaRPr lang="en-US" dirty="0" smtClean="0"/>
          </a:p>
          <a:p>
            <a:pPr>
              <a:defRPr sz="2200"/>
            </a:pPr>
            <a:endParaRPr lang="en-US" dirty="0" smtClean="0"/>
          </a:p>
          <a:p>
            <a:pPr>
              <a:defRPr sz="2200"/>
            </a:pPr>
            <a:r>
              <a:rPr lang="en-US" dirty="0" smtClean="0"/>
              <a:t>India's transportation ecosystem faces persistent challenges, including limited availability of reliable ride services, high ride cancellation rates, non-transparent pricing, passenger safety concerns, and inconsistent service quality. Drivers also struggle with high commission structures that reduce earnings, while many regional transport providers lack access to modern technology. </a:t>
            </a:r>
            <a:r>
              <a:rPr lang="en-US" dirty="0" err="1" smtClean="0"/>
              <a:t>Speedopro</a:t>
            </a:r>
            <a:r>
              <a:rPr lang="en-US" dirty="0" smtClean="0"/>
              <a:t> India addresses these issues by offering a technology-driven ride aggregation platform that delivers safe, affordable, transparent, and accessible mobility while empowering verified driver partners with better earning opportunities.</a:t>
            </a:r>
            <a:endParaRPr lang="en-US" dirty="0" smtClean="0"/>
          </a:p>
          <a:p>
            <a:pPr>
              <a:defRPr sz="2200"/>
            </a:pPr>
            <a:endParaRPr/>
          </a:p>
          <a:p>
            <a:pPr>
              <a:defRPr sz="2200"/>
            </a:pPr>
            <a:r>
              <a:t>• Who faces </a:t>
            </a:r>
            <a:r>
              <a:rPr/>
              <a:t>it</a:t>
            </a:r>
            <a:r>
              <a:rPr smtClean="0"/>
              <a:t>?</a:t>
            </a:r>
            <a:endParaRPr lang="en-US" dirty="0" smtClean="0"/>
          </a:p>
          <a:p>
            <a:pPr>
              <a:defRPr sz="2200"/>
            </a:pPr>
            <a:endParaRPr lang="en-US" dirty="0" smtClean="0"/>
          </a:p>
          <a:p>
            <a:pPr>
              <a:defRPr sz="2200"/>
            </a:pPr>
            <a:r>
              <a:rPr lang="en-US" dirty="0" smtClean="0"/>
              <a:t>The problem affects daily commuters, office professionals, students, families, tourists, airport travelers, and senior citizens who require safe, reliable, and affordable transportation. It also impacts driver partners facing low earnings due to high commission models, as well as businesses, hotels, educational institutions, healthcare organizations, travel agencies, and government departments that depend on efficient and dependable mobility services</a:t>
            </a:r>
            <a:r>
              <a:rPr lang="en-US" dirty="0" smtClean="0"/>
              <a:t>.</a:t>
            </a:r>
          </a:p>
          <a:p>
            <a:pPr>
              <a:defRPr sz="2200"/>
            </a:pPr>
            <a:endParaRPr/>
          </a:p>
          <a:p>
            <a:pPr>
              <a:defRPr sz="2200"/>
            </a:pPr>
            <a:r>
              <a:t>• </a:t>
            </a:r>
            <a:r>
              <a:rPr/>
              <a:t>Current </a:t>
            </a:r>
            <a:r>
              <a:rPr smtClean="0"/>
              <a:t>challenges</a:t>
            </a:r>
            <a:endParaRPr lang="en-US" dirty="0" smtClean="0"/>
          </a:p>
          <a:p>
            <a:pPr>
              <a:defRPr sz="2200"/>
            </a:pPr>
            <a:endParaRPr lang="en-US" dirty="0" smtClean="0"/>
          </a:p>
          <a:p>
            <a:pPr>
              <a:defRPr sz="2200"/>
            </a:pPr>
            <a:r>
              <a:rPr lang="en-US" dirty="0" smtClean="0"/>
              <a:t>The transportation sector continues to face unreliable ride availability, frequent ride cancellations, non-transparent fare pricing, passenger safety concerns, and inconsistent service quality. Drivers face reduced earnings due to high commission models, while many regional transport providers have limited access to modern technology, resulting in inefficient operations and poor customer experience.</a:t>
            </a:r>
            <a:endParaRPr lang="en-US" dirty="0" smtClean="0"/>
          </a:p>
          <a:p>
            <a:pPr>
              <a:defRPr sz="2200"/>
            </a:pPr>
            <a:endParaRPr/>
          </a:p>
          <a:p>
            <a:pPr>
              <a:defRPr sz="2200"/>
            </a:pPr>
            <a:r>
              <a:t>• Why </a:t>
            </a:r>
            <a:r>
              <a:rPr/>
              <a:t>it </a:t>
            </a:r>
            <a:r>
              <a:rPr smtClean="0"/>
              <a:t>matters</a:t>
            </a:r>
            <a:endParaRPr lang="en-US" dirty="0" smtClean="0"/>
          </a:p>
          <a:p>
            <a:pPr>
              <a:defRPr sz="2200"/>
            </a:pPr>
            <a:endParaRPr lang="en-US" dirty="0" smtClean="0"/>
          </a:p>
          <a:p>
            <a:pPr>
              <a:defRPr sz="2200"/>
            </a:pPr>
            <a:r>
              <a:rPr lang="en-US" dirty="0" smtClean="0"/>
              <a:t>Transportation directly impacts productivity, safety, and economic growth. Solving these challenges improves daily mobility, reduces travel uncertainty, enhances passenger safety, creates sustainable earning opportunities for drivers, and enables businesses and communities to access reliable, affordable, and technology-driven transportation services.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Solution</a:t>
            </a:r>
          </a:p>
        </p:txBody>
      </p:sp>
      <p:sp>
        <p:nvSpPr>
          <p:cNvPr id="3" name="Content Placeholder 2"/>
          <p:cNvSpPr>
            <a:spLocks noGrp="1"/>
          </p:cNvSpPr>
          <p:nvPr>
            <p:ph idx="1"/>
          </p:nvPr>
        </p:nvSpPr>
        <p:spPr/>
        <p:txBody>
          <a:bodyPr>
            <a:normAutofit fontScale="70000" lnSpcReduction="20000"/>
          </a:bodyPr>
          <a:lstStyle/>
          <a:p>
            <a:pPr>
              <a:defRPr sz="2200"/>
            </a:pPr>
            <a:r>
              <a:t>• Explain </a:t>
            </a:r>
            <a:r>
              <a:rPr/>
              <a:t>your </a:t>
            </a:r>
            <a:r>
              <a:rPr smtClean="0"/>
              <a:t>innovation</a:t>
            </a:r>
            <a:endParaRPr lang="en-US" dirty="0" smtClean="0"/>
          </a:p>
          <a:p>
            <a:pPr>
              <a:defRPr sz="2200"/>
            </a:pPr>
            <a:endParaRPr lang="en-US" dirty="0" smtClean="0"/>
          </a:p>
          <a:p>
            <a:pPr>
              <a:defRPr sz="2200"/>
            </a:pPr>
            <a:r>
              <a:rPr lang="en-US" dirty="0" err="1" smtClean="0"/>
              <a:t>Speedopro</a:t>
            </a:r>
            <a:r>
              <a:rPr lang="en-US" dirty="0" smtClean="0"/>
              <a:t> India is a technology-driven ride aggregation platform that connects passengers with verified driver partners through a secure mobile application. It integrates GPS-enabled live tracking, AI-assisted ride dispatch, digital payments, transparent fare calculation, driver verification, and fleet management to deliver safe, affordable, and efficient mobility while improving driver earnings and customer experience.</a:t>
            </a:r>
            <a:endParaRPr/>
          </a:p>
          <a:p>
            <a:pPr>
              <a:defRPr sz="2200"/>
            </a:pPr>
            <a:r>
              <a:t>• How </a:t>
            </a:r>
            <a:r>
              <a:rPr/>
              <a:t>it </a:t>
            </a:r>
            <a:r>
              <a:rPr smtClean="0"/>
              <a:t>works</a:t>
            </a:r>
            <a:endParaRPr lang="en-US" dirty="0" smtClean="0"/>
          </a:p>
          <a:p>
            <a:pPr>
              <a:defRPr sz="2200"/>
            </a:pPr>
            <a:endParaRPr lang="en-US" dirty="0" smtClean="0"/>
          </a:p>
          <a:p>
            <a:pPr>
              <a:buNone/>
              <a:defRPr sz="2200"/>
            </a:pPr>
            <a:r>
              <a:rPr lang="en-US" dirty="0" smtClean="0"/>
              <a:t>       Passengers </a:t>
            </a:r>
            <a:r>
              <a:rPr lang="en-US" dirty="0" smtClean="0"/>
              <a:t>book rides through the </a:t>
            </a:r>
            <a:r>
              <a:rPr lang="en-US" dirty="0" err="1" smtClean="0"/>
              <a:t>Speedopro</a:t>
            </a:r>
            <a:r>
              <a:rPr lang="en-US" dirty="0" smtClean="0"/>
              <a:t> mobile app, where the system matches them with nearby verified drivers using GPS and intelligent dispatch. Real-time tracking, transparent fare calculation, secure digital payments, and emergency safety features ensure a seamless experience, while the driver platform manages </a:t>
            </a:r>
            <a:r>
              <a:rPr lang="en-US" dirty="0" err="1" smtClean="0"/>
              <a:t>onboarding</a:t>
            </a:r>
            <a:r>
              <a:rPr lang="en-US" dirty="0" smtClean="0"/>
              <a:t>, earnings, fleet operations, and performance analytics</a:t>
            </a:r>
            <a:r>
              <a:rPr lang="en-US" dirty="0" smtClean="0"/>
              <a:t>.</a:t>
            </a:r>
          </a:p>
          <a:p>
            <a:pPr>
              <a:buNone/>
              <a:defRPr sz="2200"/>
            </a:pPr>
            <a:endParaRPr/>
          </a:p>
          <a:p>
            <a:pPr>
              <a:defRPr sz="2200"/>
            </a:pPr>
            <a:r>
              <a:t>• Unique </a:t>
            </a:r>
            <a:r>
              <a:rPr/>
              <a:t>value </a:t>
            </a:r>
            <a:r>
              <a:rPr smtClean="0"/>
              <a:t>proposition</a:t>
            </a:r>
            <a:endParaRPr lang="en-US" dirty="0" smtClean="0"/>
          </a:p>
          <a:p>
            <a:pPr>
              <a:defRPr sz="2200"/>
            </a:pPr>
            <a:endParaRPr lang="en-US" dirty="0" smtClean="0"/>
          </a:p>
          <a:p>
            <a:pPr>
              <a:defRPr sz="2200"/>
            </a:pPr>
            <a:r>
              <a:rPr lang="en-US" dirty="0" err="1" smtClean="0"/>
              <a:t>Speedopro</a:t>
            </a:r>
            <a:r>
              <a:rPr lang="en-US" dirty="0" smtClean="0"/>
              <a:t> India combines affordable pricing, verified driver </a:t>
            </a:r>
            <a:r>
              <a:rPr lang="en-US" dirty="0" err="1" smtClean="0"/>
              <a:t>onboarding</a:t>
            </a:r>
            <a:r>
              <a:rPr lang="en-US" dirty="0" smtClean="0"/>
              <a:t>, real-time GPS tracking, transparent fare calculation, secure digital payments, and a driver-friendly commission model on a scalable technology platform. This creates a safer, more reliable, and cost-effective mobility solution while improving driver earnings and customer satisfaction.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Innovation &amp; Novelty</a:t>
            </a:r>
          </a:p>
        </p:txBody>
      </p:sp>
      <p:sp>
        <p:nvSpPr>
          <p:cNvPr id="3" name="Content Placeholder 2"/>
          <p:cNvSpPr>
            <a:spLocks noGrp="1"/>
          </p:cNvSpPr>
          <p:nvPr>
            <p:ph idx="1"/>
          </p:nvPr>
        </p:nvSpPr>
        <p:spPr/>
        <p:txBody>
          <a:bodyPr>
            <a:normAutofit fontScale="70000" lnSpcReduction="20000"/>
          </a:bodyPr>
          <a:lstStyle/>
          <a:p>
            <a:pPr>
              <a:defRPr sz="2200"/>
            </a:pPr>
            <a:r>
              <a:t>• What is </a:t>
            </a:r>
            <a:r>
              <a:rPr/>
              <a:t>new</a:t>
            </a:r>
            <a:r>
              <a:rPr smtClean="0"/>
              <a:t>?</a:t>
            </a:r>
            <a:endParaRPr lang="en-US" dirty="0" smtClean="0"/>
          </a:p>
          <a:p>
            <a:pPr>
              <a:defRPr sz="2200"/>
            </a:pPr>
            <a:endParaRPr lang="en-US" dirty="0" smtClean="0"/>
          </a:p>
          <a:p>
            <a:pPr>
              <a:defRPr sz="2200"/>
            </a:pPr>
            <a:r>
              <a:rPr lang="en-US" dirty="0" err="1" smtClean="0"/>
              <a:t>Speedopro</a:t>
            </a:r>
            <a:r>
              <a:rPr lang="en-US" dirty="0" smtClean="0"/>
              <a:t> India introduces a regional-first, technology-enabled ride aggregation platform that combines verified driver </a:t>
            </a:r>
            <a:r>
              <a:rPr lang="en-US" dirty="0" err="1" smtClean="0"/>
              <a:t>onboarding</a:t>
            </a:r>
            <a:r>
              <a:rPr lang="en-US" dirty="0" smtClean="0"/>
              <a:t>, AI-assisted ride dispatch, GPS-based live tracking, transparent fare calculation, secure digital payments, and a driver-friendly commission model. Unlike conventional ride-hailing services, it focuses on affordable mobility, stronger driver empowerment, enhanced passenger safety, and scalable expansion across Tier II and Tier III cities</a:t>
            </a:r>
            <a:r>
              <a:rPr lang="en-US" dirty="0" smtClean="0"/>
              <a:t>.</a:t>
            </a:r>
          </a:p>
          <a:p>
            <a:pPr>
              <a:defRPr sz="2200"/>
            </a:pPr>
            <a:endParaRPr/>
          </a:p>
          <a:p>
            <a:pPr>
              <a:defRPr sz="2200"/>
            </a:pPr>
            <a:r>
              <a:t>• Comparison with </a:t>
            </a:r>
            <a:r>
              <a:rPr/>
              <a:t>existing </a:t>
            </a:r>
            <a:r>
              <a:rPr smtClean="0"/>
              <a:t>solutions</a:t>
            </a:r>
            <a:endParaRPr lang="en-US" dirty="0" smtClean="0"/>
          </a:p>
          <a:p>
            <a:pPr>
              <a:defRPr sz="2200"/>
            </a:pPr>
            <a:endParaRPr lang="en-US" dirty="0" smtClean="0"/>
          </a:p>
          <a:p>
            <a:pPr>
              <a:defRPr sz="2200"/>
            </a:pPr>
            <a:r>
              <a:rPr lang="en-US" dirty="0" smtClean="0"/>
              <a:t>Unlike conventional ride-hailing platforms, </a:t>
            </a:r>
            <a:r>
              <a:rPr lang="en-US" dirty="0" err="1" smtClean="0"/>
              <a:t>Speedopro</a:t>
            </a:r>
            <a:r>
              <a:rPr lang="en-US" dirty="0" smtClean="0"/>
              <a:t> India emphasizes affordable pricing, a driver-friendly commission structure, verified driver </a:t>
            </a:r>
            <a:r>
              <a:rPr lang="en-US" dirty="0" err="1" smtClean="0"/>
              <a:t>onboarding</a:t>
            </a:r>
            <a:r>
              <a:rPr lang="en-US" dirty="0" smtClean="0"/>
              <a:t>, transparent fare calculation, and regional market expansion. Its technology-driven platform enhances passenger safety, improves driver earnings, and delivers reliable mobility services tailored for Tier II and Tier III cities</a:t>
            </a:r>
            <a:r>
              <a:rPr lang="en-US" dirty="0" smtClean="0"/>
              <a:t>.</a:t>
            </a:r>
          </a:p>
          <a:p>
            <a:pPr>
              <a:defRPr sz="2200"/>
            </a:pPr>
            <a:endParaRPr/>
          </a:p>
          <a:p>
            <a:pPr>
              <a:defRPr sz="2200"/>
            </a:pPr>
            <a:r>
              <a:rPr/>
              <a:t>• </a:t>
            </a:r>
            <a:r>
              <a:rPr smtClean="0"/>
              <a:t>IP/uniqueness</a:t>
            </a:r>
            <a:endParaRPr lang="en-US" dirty="0" smtClean="0"/>
          </a:p>
          <a:p>
            <a:pPr>
              <a:defRPr sz="2200"/>
            </a:pPr>
            <a:endParaRPr lang="en-US" dirty="0" smtClean="0"/>
          </a:p>
          <a:p>
            <a:pPr>
              <a:defRPr sz="2200"/>
            </a:pPr>
            <a:r>
              <a:rPr lang="en-US" dirty="0" err="1" smtClean="0"/>
              <a:t>Speedopro’s</a:t>
            </a:r>
            <a:r>
              <a:rPr lang="en-US" dirty="0" smtClean="0"/>
              <a:t> core IP and uniqueness stem from an </a:t>
            </a:r>
            <a:r>
              <a:rPr lang="en-US" b="1" dirty="0" smtClean="0"/>
              <a:t>AI-enabled dispatch system</a:t>
            </a:r>
            <a:r>
              <a:rPr lang="en-US" dirty="0" smtClean="0"/>
              <a:t> paired with a </a:t>
            </a:r>
            <a:r>
              <a:rPr lang="en-US" b="1" dirty="0" smtClean="0"/>
              <a:t>scalable cloud architecture</a:t>
            </a:r>
            <a:r>
              <a:rPr lang="en-US" dirty="0" smtClean="0"/>
              <a:t> for real-time tracking. It differentiates itself through </a:t>
            </a:r>
            <a:r>
              <a:rPr lang="en-US" b="1" dirty="0" smtClean="0"/>
              <a:t>competitive driver commissions</a:t>
            </a:r>
            <a:r>
              <a:rPr lang="en-US" dirty="0" smtClean="0"/>
              <a:t>, lower fees, and a hyper-targeted </a:t>
            </a:r>
            <a:r>
              <a:rPr lang="en-US" b="1" dirty="0" smtClean="0"/>
              <a:t>Tier II/III regional expansion strategy</a:t>
            </a:r>
            <a:r>
              <a:rPr lang="en-US" dirty="0" smtClean="0"/>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a:t>
            </a:r>
          </a:p>
        </p:txBody>
      </p:sp>
      <p:sp>
        <p:nvSpPr>
          <p:cNvPr id="3" name="Content Placeholder 2"/>
          <p:cNvSpPr>
            <a:spLocks noGrp="1"/>
          </p:cNvSpPr>
          <p:nvPr>
            <p:ph idx="1"/>
          </p:nvPr>
        </p:nvSpPr>
        <p:spPr/>
        <p:txBody>
          <a:bodyPr>
            <a:normAutofit fontScale="70000" lnSpcReduction="20000"/>
          </a:bodyPr>
          <a:lstStyle/>
          <a:p>
            <a:pPr>
              <a:defRPr sz="2200"/>
            </a:pPr>
            <a:r>
              <a:t>• </a:t>
            </a:r>
            <a:r>
              <a:rPr/>
              <a:t>Technology </a:t>
            </a:r>
            <a:r>
              <a:rPr smtClean="0"/>
              <a:t>architecture</a:t>
            </a:r>
            <a:endParaRPr lang="en-US" dirty="0" smtClean="0"/>
          </a:p>
          <a:p>
            <a:pPr>
              <a:defRPr sz="2200"/>
            </a:pPr>
            <a:r>
              <a:rPr lang="en-US" dirty="0" err="1" smtClean="0"/>
              <a:t>Speedopro</a:t>
            </a:r>
            <a:r>
              <a:rPr lang="en-US" dirty="0" smtClean="0"/>
              <a:t> India’s technology architecture is built on a scalable cloud-based mobility platform integrating passenger and driver applications, AI-based ride allocation, GPS tracking, digital payment systems, real-time trip monitoring, and data analytics. The architecture ensures secure transactions, efficient fleet management, route optimization, driver verification, and seamless communication between users, drivers, and administrators for reliable transportation services</a:t>
            </a:r>
            <a:r>
              <a:rPr lang="en-US" dirty="0" smtClean="0"/>
              <a:t>.</a:t>
            </a:r>
          </a:p>
          <a:p>
            <a:pPr>
              <a:defRPr sz="2200"/>
            </a:pPr>
            <a:endParaRPr/>
          </a:p>
          <a:p>
            <a:pPr>
              <a:defRPr sz="2200"/>
            </a:pPr>
            <a:r>
              <a:rPr/>
              <a:t>• </a:t>
            </a:r>
            <a:r>
              <a:rPr smtClean="0"/>
              <a:t>Prototype/PoC</a:t>
            </a:r>
            <a:endParaRPr lang="en-US" dirty="0" smtClean="0"/>
          </a:p>
          <a:p>
            <a:pPr>
              <a:defRPr sz="2200"/>
            </a:pPr>
            <a:endParaRPr lang="en-US" dirty="0" smtClean="0"/>
          </a:p>
          <a:p>
            <a:pPr>
              <a:defRPr sz="2200"/>
            </a:pPr>
            <a:r>
              <a:rPr lang="en-US" dirty="0" err="1" smtClean="0"/>
              <a:t>Speedopro</a:t>
            </a:r>
            <a:r>
              <a:rPr lang="en-US" dirty="0" smtClean="0"/>
              <a:t> India has developed a mobility platform prototype consisting of passenger and driver interfaces with core features such as ride booking, driver </a:t>
            </a:r>
            <a:r>
              <a:rPr lang="en-US" dirty="0" err="1" smtClean="0"/>
              <a:t>onboarding</a:t>
            </a:r>
            <a:r>
              <a:rPr lang="en-US" dirty="0" smtClean="0"/>
              <a:t>, GPS tracking, fare calculation, digital payment integration, and trip management. The </a:t>
            </a:r>
            <a:r>
              <a:rPr lang="en-US" dirty="0" err="1" smtClean="0"/>
              <a:t>PoC</a:t>
            </a:r>
            <a:r>
              <a:rPr lang="en-US" dirty="0" smtClean="0"/>
              <a:t> validates the feasibility of connecting verified drivers with passengers through a secure and scalable digital transportation ecosystem</a:t>
            </a:r>
            <a:r>
              <a:rPr lang="en-US" dirty="0" smtClean="0"/>
              <a:t>.</a:t>
            </a:r>
          </a:p>
          <a:p>
            <a:pPr>
              <a:defRPr sz="2200"/>
            </a:pPr>
            <a:endParaRPr lang="en-US" dirty="0" smtClean="0"/>
          </a:p>
          <a:p>
            <a:pPr>
              <a:defRPr sz="2200"/>
            </a:pPr>
            <a:r>
              <a:rPr smtClean="0"/>
              <a:t>• </a:t>
            </a:r>
            <a:r>
              <a:rPr/>
              <a:t>Readiness </a:t>
            </a:r>
            <a:r>
              <a:rPr smtClean="0"/>
              <a:t>level</a:t>
            </a:r>
            <a:endParaRPr lang="en-US" dirty="0" smtClean="0"/>
          </a:p>
          <a:p>
            <a:pPr>
              <a:defRPr sz="2200"/>
            </a:pPr>
            <a:endParaRPr lang="en-US" dirty="0" smtClean="0"/>
          </a:p>
          <a:p>
            <a:pPr>
              <a:defRPr sz="2200"/>
            </a:pPr>
            <a:r>
              <a:rPr lang="en-US" dirty="0" err="1" smtClean="0"/>
              <a:t>Speedopro</a:t>
            </a:r>
            <a:r>
              <a:rPr lang="en-US" dirty="0" smtClean="0"/>
              <a:t> India is currently at the prototype and early commercialization readiness stage. The platform architecture, mobile application framework, and key mobility features have been designed and validated. The company is focusing on technology enhancement, pilot deployment, driver </a:t>
            </a:r>
            <a:r>
              <a:rPr lang="en-US" dirty="0" err="1" smtClean="0"/>
              <a:t>onboarding</a:t>
            </a:r>
            <a:r>
              <a:rPr lang="en-US" dirty="0" smtClean="0"/>
              <a:t>, and market expansion to achieve full-scale operational readiness.</a:t>
            </a:r>
          </a:p>
          <a:p>
            <a:pPr>
              <a:defRPr sz="2200"/>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Market Opportunity</a:t>
            </a:r>
          </a:p>
        </p:txBody>
      </p:sp>
      <p:sp>
        <p:nvSpPr>
          <p:cNvPr id="3" name="Content Placeholder 2"/>
          <p:cNvSpPr>
            <a:spLocks noGrp="1"/>
          </p:cNvSpPr>
          <p:nvPr>
            <p:ph idx="1"/>
          </p:nvPr>
        </p:nvSpPr>
        <p:spPr/>
        <p:txBody>
          <a:bodyPr>
            <a:normAutofit fontScale="62500" lnSpcReduction="20000"/>
          </a:bodyPr>
          <a:lstStyle/>
          <a:p>
            <a:pPr>
              <a:defRPr sz="2200"/>
            </a:pPr>
            <a:r>
              <a:t>• </a:t>
            </a:r>
            <a:r>
              <a:rPr/>
              <a:t>Target </a:t>
            </a:r>
            <a:r>
              <a:rPr smtClean="0"/>
              <a:t>customers</a:t>
            </a:r>
            <a:endParaRPr lang="en-US" dirty="0" smtClean="0"/>
          </a:p>
          <a:p>
            <a:endParaRPr lang="en-US" dirty="0" smtClean="0"/>
          </a:p>
          <a:p>
            <a:r>
              <a:rPr lang="en-US" sz="2100" dirty="0" err="1" smtClean="0"/>
              <a:t>Speedopro</a:t>
            </a:r>
            <a:r>
              <a:rPr lang="en-US" sz="2100" dirty="0" smtClean="0"/>
              <a:t> India targets individual passengers, daily commuters, office professionals, students, families, tourists, airport travelers, and senior citizens seeking safe and affordable transportation. The company also serves B2B customers including corporate organizations, hotels, travel agencies, educational institutions, healthcare providers, event companies, and government departments requiring reliable employee and mobility solutions.</a:t>
            </a:r>
          </a:p>
          <a:p>
            <a:pPr>
              <a:defRPr sz="2200"/>
            </a:pPr>
            <a:endParaRPr/>
          </a:p>
          <a:p>
            <a:pPr>
              <a:defRPr sz="2200"/>
            </a:pPr>
            <a:r>
              <a:t>• </a:t>
            </a:r>
            <a:r>
              <a:rPr/>
              <a:t>Market </a:t>
            </a:r>
            <a:r>
              <a:rPr smtClean="0"/>
              <a:t>size</a:t>
            </a:r>
            <a:endParaRPr lang="en-US" dirty="0" smtClean="0"/>
          </a:p>
          <a:p>
            <a:pPr>
              <a:defRPr sz="2200"/>
            </a:pPr>
            <a:endParaRPr lang="en-US" dirty="0" smtClean="0"/>
          </a:p>
          <a:p>
            <a:pPr>
              <a:defRPr sz="2200"/>
            </a:pPr>
            <a:r>
              <a:rPr lang="en-US" dirty="0" smtClean="0"/>
              <a:t>India’s mobility and transportation market represents a significant growth opportunity driven by urbanization, increasing </a:t>
            </a:r>
            <a:r>
              <a:rPr lang="en-US" dirty="0" err="1" smtClean="0"/>
              <a:t>smartphone</a:t>
            </a:r>
            <a:r>
              <a:rPr lang="en-US" dirty="0" smtClean="0"/>
              <a:t> adoption, and rising demand for convenient ride-hailing services. </a:t>
            </a:r>
            <a:r>
              <a:rPr lang="en-US" dirty="0" err="1" smtClean="0"/>
              <a:t>Speedopro</a:t>
            </a:r>
            <a:r>
              <a:rPr lang="en-US" dirty="0" smtClean="0"/>
              <a:t> targets the expanding urban and semi-urban mobility segment, focusing on Tier I, Tier II, and Tier III cities with scalable digital transportation solutions</a:t>
            </a:r>
            <a:r>
              <a:rPr lang="en-US" dirty="0" smtClean="0"/>
              <a:t>.</a:t>
            </a:r>
          </a:p>
          <a:p>
            <a:pPr>
              <a:defRPr sz="2200"/>
            </a:pPr>
            <a:endParaRPr/>
          </a:p>
          <a:p>
            <a:pPr>
              <a:defRPr sz="2200"/>
            </a:pPr>
            <a:r>
              <a:t>• </a:t>
            </a:r>
            <a:r>
              <a:rPr/>
              <a:t>Industry </a:t>
            </a:r>
            <a:r>
              <a:rPr smtClean="0"/>
              <a:t>need</a:t>
            </a:r>
            <a:endParaRPr lang="en-US" dirty="0" smtClean="0"/>
          </a:p>
          <a:p>
            <a:pPr>
              <a:defRPr sz="2200"/>
            </a:pPr>
            <a:endParaRPr lang="en-US" dirty="0" smtClean="0"/>
          </a:p>
          <a:p>
            <a:pPr>
              <a:defRPr sz="2200"/>
            </a:pPr>
            <a:r>
              <a:rPr lang="en-US" dirty="0" smtClean="0"/>
              <a:t>The transportation industry needs affordable, reliable, and technology-enabled mobility solutions due to increasing urban population, traffic challenges, safety concerns, and demand for convenient travel options. Many Tier II and Tier III cities lack organized ride-hailing services, creating opportunities for platforms like </a:t>
            </a:r>
            <a:r>
              <a:rPr lang="en-US" dirty="0" err="1" smtClean="0"/>
              <a:t>Speedopro</a:t>
            </a:r>
            <a:r>
              <a:rPr lang="en-US" dirty="0" smtClean="0"/>
              <a:t> to improve accessibility, driver earnings, and passenger experience.</a:t>
            </a:r>
          </a:p>
          <a:p>
            <a:pPr>
              <a:defRPr sz="2200"/>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Model</a:t>
            </a:r>
          </a:p>
        </p:txBody>
      </p:sp>
      <p:sp>
        <p:nvSpPr>
          <p:cNvPr id="3" name="Content Placeholder 2"/>
          <p:cNvSpPr>
            <a:spLocks noGrp="1"/>
          </p:cNvSpPr>
          <p:nvPr>
            <p:ph idx="1"/>
          </p:nvPr>
        </p:nvSpPr>
        <p:spPr/>
        <p:txBody>
          <a:bodyPr>
            <a:normAutofit fontScale="70000" lnSpcReduction="20000"/>
          </a:bodyPr>
          <a:lstStyle/>
          <a:p>
            <a:pPr>
              <a:defRPr sz="2200"/>
            </a:pPr>
            <a:r>
              <a:t>• </a:t>
            </a:r>
            <a:r>
              <a:rPr/>
              <a:t>Revenue </a:t>
            </a:r>
            <a:r>
              <a:rPr smtClean="0"/>
              <a:t>model</a:t>
            </a:r>
            <a:endParaRPr lang="en-US" dirty="0" smtClean="0"/>
          </a:p>
          <a:p>
            <a:endParaRPr lang="en-US" dirty="0" smtClean="0"/>
          </a:p>
          <a:p>
            <a:r>
              <a:rPr lang="en-US" sz="1900" dirty="0" err="1" smtClean="0"/>
              <a:t>Speedopro</a:t>
            </a:r>
            <a:r>
              <a:rPr lang="en-US" sz="1900" dirty="0" smtClean="0"/>
              <a:t> India follows a diversified revenue model based on ride commission from driver partners, corporate transportation contracts, fleet management services, driver subscription plans, premium mobility services, convenience charges, in-app advertising, and value-added digital solutions. The model enables scalable growth by creating recurring revenue streams while supporting passengers, drivers, and business partners.</a:t>
            </a:r>
          </a:p>
          <a:p>
            <a:pPr>
              <a:defRPr sz="2200"/>
            </a:pPr>
            <a:endParaRPr/>
          </a:p>
          <a:p>
            <a:pPr>
              <a:defRPr sz="2200"/>
            </a:pPr>
            <a:r>
              <a:rPr/>
              <a:t>• </a:t>
            </a:r>
            <a:r>
              <a:rPr smtClean="0"/>
              <a:t>Pricing</a:t>
            </a:r>
            <a:endParaRPr lang="en-US" dirty="0" smtClean="0"/>
          </a:p>
          <a:p>
            <a:pPr>
              <a:defRPr sz="2200"/>
            </a:pPr>
            <a:endParaRPr lang="en-US" dirty="0" smtClean="0"/>
          </a:p>
          <a:p>
            <a:pPr>
              <a:buNone/>
              <a:defRPr sz="2200"/>
            </a:pPr>
            <a:r>
              <a:rPr lang="en-US" dirty="0" smtClean="0"/>
              <a:t>       </a:t>
            </a:r>
            <a:r>
              <a:rPr lang="en-US" sz="1800" dirty="0" err="1" smtClean="0"/>
              <a:t>Speedopro</a:t>
            </a:r>
            <a:r>
              <a:rPr lang="en-US" sz="1800" dirty="0" smtClean="0"/>
              <a:t> </a:t>
            </a:r>
            <a:r>
              <a:rPr lang="en-US" sz="1800" dirty="0" smtClean="0"/>
              <a:t>India follows a customer-friendly and competitive pricing strategy based on transparent fare calculation, distance and time-based ride pricing, and affordable mobility options. The platform aims to maintain cost efficiency for passengers while ensuring sustainable earnings for driver partners through a balanced commission structure and incentive programs</a:t>
            </a:r>
            <a:r>
              <a:rPr lang="en-US" sz="1800" dirty="0" smtClean="0"/>
              <a:t>.</a:t>
            </a:r>
          </a:p>
          <a:p>
            <a:pPr>
              <a:buNone/>
              <a:defRPr sz="2200"/>
            </a:pPr>
            <a:endParaRPr sz="1800"/>
          </a:p>
          <a:p>
            <a:pPr>
              <a:defRPr sz="2200"/>
            </a:pPr>
            <a:r>
              <a:t>• </a:t>
            </a:r>
            <a:r>
              <a:rPr/>
              <a:t>Go-to-market </a:t>
            </a:r>
            <a:r>
              <a:rPr smtClean="0"/>
              <a:t>strategy</a:t>
            </a:r>
            <a:endParaRPr lang="en-US" dirty="0" smtClean="0"/>
          </a:p>
          <a:p>
            <a:pPr>
              <a:defRPr sz="2200"/>
            </a:pPr>
            <a:endParaRPr lang="en-US" dirty="0" smtClean="0"/>
          </a:p>
          <a:p>
            <a:pPr>
              <a:defRPr sz="2200"/>
            </a:pPr>
            <a:r>
              <a:rPr lang="en-US" dirty="0" err="1" smtClean="0"/>
              <a:t>Speedopro</a:t>
            </a:r>
            <a:r>
              <a:rPr lang="en-US" dirty="0" smtClean="0"/>
              <a:t> India’s go-to-market strategy focuses on phased expansion through digital marketing, customer acquisition campaigns, driver </a:t>
            </a:r>
            <a:r>
              <a:rPr lang="en-US" dirty="0" err="1" smtClean="0"/>
              <a:t>onboarding</a:t>
            </a:r>
            <a:r>
              <a:rPr lang="en-US" dirty="0" smtClean="0"/>
              <a:t> programs, referral incentives, and strategic partnerships. The company will initially target Tier II and Tier III cities, build a strong driver network, collaborate with enterprises and local partners, and scale operations through technology-driven mobility solutions.</a:t>
            </a:r>
          </a:p>
          <a:p>
            <a:pPr>
              <a:defRPr sz="2200"/>
            </a:pPr>
            <a:endParaRPr 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Impact</a:t>
            </a:r>
          </a:p>
        </p:txBody>
      </p:sp>
      <p:sp>
        <p:nvSpPr>
          <p:cNvPr id="3" name="Content Placeholder 2"/>
          <p:cNvSpPr>
            <a:spLocks noGrp="1"/>
          </p:cNvSpPr>
          <p:nvPr>
            <p:ph idx="1"/>
          </p:nvPr>
        </p:nvSpPr>
        <p:spPr/>
        <p:txBody>
          <a:bodyPr/>
          <a:lstStyle/>
          <a:p>
            <a:pPr>
              <a:defRPr sz="2200"/>
            </a:pPr>
            <a:r>
              <a:t>• Social/Economic/Environmental impact</a:t>
            </a:r>
          </a:p>
          <a:p>
            <a:pPr>
              <a:defRPr sz="2200"/>
            </a:pPr>
            <a:r>
              <a:t>• Alignment with MSME themes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Development Plan</a:t>
            </a:r>
          </a:p>
        </p:txBody>
      </p:sp>
      <p:sp>
        <p:nvSpPr>
          <p:cNvPr id="3" name="Content Placeholder 2"/>
          <p:cNvSpPr>
            <a:spLocks noGrp="1"/>
          </p:cNvSpPr>
          <p:nvPr>
            <p:ph idx="1"/>
          </p:nvPr>
        </p:nvSpPr>
        <p:spPr/>
        <p:txBody>
          <a:bodyPr>
            <a:normAutofit fontScale="92500" lnSpcReduction="10000"/>
          </a:bodyPr>
          <a:lstStyle/>
          <a:p>
            <a:pPr>
              <a:defRPr sz="2200"/>
            </a:pPr>
            <a:r>
              <a:rPr/>
              <a:t>• </a:t>
            </a:r>
            <a:r>
              <a:rPr smtClean="0"/>
              <a:t>Timeline</a:t>
            </a:r>
            <a:endParaRPr lang="en-US" dirty="0" smtClean="0"/>
          </a:p>
          <a:p>
            <a:pPr>
              <a:defRPr sz="2200"/>
            </a:pPr>
            <a:r>
              <a:rPr lang="en-US" sz="1400" dirty="0" err="1" smtClean="0"/>
              <a:t>Speedopro</a:t>
            </a:r>
            <a:r>
              <a:rPr lang="en-US" sz="1400" dirty="0" smtClean="0"/>
              <a:t> India plans a phased growth roadmap starting with technology enhancement and pilot operations, followed by driver network expansion and customer acquisition. The company aims to establish operations in targeted cities, strengthen partnerships, optimize platform performance, and gradually expand across Tier I, Tier II, and Tier III markets over the next 3–5 years.</a:t>
            </a:r>
          </a:p>
          <a:p>
            <a:pPr>
              <a:defRPr sz="2200"/>
            </a:pPr>
            <a:r>
              <a:rPr smtClean="0"/>
              <a:t>• Milestones</a:t>
            </a:r>
            <a:endParaRPr lang="en-US" dirty="0" smtClean="0"/>
          </a:p>
          <a:p>
            <a:pPr>
              <a:defRPr sz="2200"/>
            </a:pPr>
            <a:r>
              <a:rPr lang="en-US" sz="1500" dirty="0" err="1" smtClean="0"/>
              <a:t>Speedopro</a:t>
            </a:r>
            <a:r>
              <a:rPr lang="en-US" sz="1500" dirty="0" smtClean="0"/>
              <a:t> India’s key milestones include developing the mobility platform prototype, launching passenger and driver applications, </a:t>
            </a:r>
            <a:r>
              <a:rPr lang="en-US" sz="1500" dirty="0" err="1" smtClean="0"/>
              <a:t>onboarding</a:t>
            </a:r>
            <a:r>
              <a:rPr lang="en-US" sz="1500" dirty="0" smtClean="0"/>
              <a:t> verified driver partners, establishing operations in initial target cities, achieving customer adoption, building strategic partnerships, implementing advanced analytics and safety features, and expanding the platform across multiple regions to create a scalable transportation ecosystem.</a:t>
            </a:r>
          </a:p>
          <a:p>
            <a:pPr>
              <a:defRPr sz="2200"/>
            </a:pPr>
            <a:endParaRPr/>
          </a:p>
          <a:p>
            <a:pPr>
              <a:defRPr sz="2200"/>
            </a:pPr>
            <a:r>
              <a:t>• Budget utilization (₹15 lakh if </a:t>
            </a:r>
            <a:r>
              <a:rPr/>
              <a:t>funded</a:t>
            </a:r>
            <a:r>
              <a:rPr smtClean="0"/>
              <a:t>)</a:t>
            </a:r>
            <a:endParaRPr lang="en-US" dirty="0" smtClean="0"/>
          </a:p>
          <a:p>
            <a:pPr>
              <a:defRPr sz="2200"/>
            </a:pPr>
            <a:endParaRPr lang="en-US" dirty="0" smtClean="0"/>
          </a:p>
          <a:p>
            <a:pPr>
              <a:defRPr sz="2200"/>
            </a:pPr>
            <a:r>
              <a:rPr lang="en-US" sz="1600" dirty="0" smtClean="0"/>
              <a:t>If funded with ₹15 </a:t>
            </a:r>
            <a:r>
              <a:rPr lang="en-US" sz="1600" dirty="0" err="1" smtClean="0"/>
              <a:t>lakh</a:t>
            </a:r>
            <a:r>
              <a:rPr lang="en-US" sz="1600" dirty="0" smtClean="0"/>
              <a:t>, </a:t>
            </a:r>
            <a:r>
              <a:rPr lang="en-US" sz="1600" dirty="0" err="1" smtClean="0"/>
              <a:t>Speedopro</a:t>
            </a:r>
            <a:r>
              <a:rPr lang="en-US" sz="1600" dirty="0" smtClean="0"/>
              <a:t> India will utilize the investment for mobile application enhancement, technology infrastructure, cloud services, security improvements, driver </a:t>
            </a:r>
            <a:r>
              <a:rPr lang="en-US" sz="1600" dirty="0" err="1" smtClean="0"/>
              <a:t>onboarding</a:t>
            </a:r>
            <a:r>
              <a:rPr lang="en-US" sz="1600" dirty="0" smtClean="0"/>
              <a:t>, marketing activities, customer acquisition, operational setup, and compliance requirements. The funding will support pilot deployment, platform scalability, and early-stage market expansion.</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Team</a:t>
            </a:r>
          </a:p>
        </p:txBody>
      </p:sp>
      <p:sp>
        <p:nvSpPr>
          <p:cNvPr id="3" name="Content Placeholder 2"/>
          <p:cNvSpPr>
            <a:spLocks noGrp="1"/>
          </p:cNvSpPr>
          <p:nvPr>
            <p:ph idx="1"/>
          </p:nvPr>
        </p:nvSpPr>
        <p:spPr/>
        <p:txBody>
          <a:bodyPr>
            <a:normAutofit/>
          </a:bodyPr>
          <a:lstStyle/>
          <a:p>
            <a:pPr>
              <a:defRPr sz="2200"/>
            </a:pPr>
            <a:r>
              <a:t>• </a:t>
            </a:r>
            <a:r>
              <a:rPr/>
              <a:t>Founder(s</a:t>
            </a:r>
            <a:r>
              <a:rPr smtClean="0"/>
              <a:t>)</a:t>
            </a:r>
            <a:r>
              <a:rPr lang="en-US" dirty="0" smtClean="0"/>
              <a:t> </a:t>
            </a:r>
            <a:r>
              <a:rPr lang="en-US" sz="2200" b="1" dirty="0" smtClean="0">
                <a:hlinkClick r:id="rId2"/>
              </a:rPr>
              <a:t>BHOOMIKA BALKISAN </a:t>
            </a:r>
            <a:r>
              <a:rPr lang="en-US" sz="2200" b="1" dirty="0" smtClean="0">
                <a:hlinkClick r:id="rId2"/>
              </a:rPr>
              <a:t>CHINTAL</a:t>
            </a:r>
            <a:r>
              <a:rPr lang="en-US" sz="2200" b="1" dirty="0" smtClean="0"/>
              <a:t>, </a:t>
            </a:r>
            <a:r>
              <a:rPr lang="en-US" sz="2200" b="1" dirty="0" smtClean="0">
                <a:hlinkClick r:id="rId3"/>
              </a:rPr>
              <a:t/>
            </a:r>
            <a:br>
              <a:rPr lang="en-US" sz="2200" b="1" dirty="0" smtClean="0">
                <a:hlinkClick r:id="rId3"/>
              </a:rPr>
            </a:br>
            <a:r>
              <a:rPr lang="en-US" sz="2200" b="1" dirty="0" smtClean="0">
                <a:hlinkClick r:id="rId3"/>
              </a:rPr>
              <a:t>BALKISAN DURGAYYA </a:t>
            </a:r>
            <a:r>
              <a:rPr lang="en-US" sz="2200" b="1" dirty="0" smtClean="0">
                <a:hlinkClick r:id="rId3"/>
              </a:rPr>
              <a:t>CHINTAL</a:t>
            </a:r>
            <a:endParaRPr lang="en-US" sz="2200" b="1" dirty="0" smtClean="0"/>
          </a:p>
          <a:p>
            <a:pPr>
              <a:defRPr sz="2200"/>
            </a:pPr>
            <a:endParaRPr/>
          </a:p>
          <a:p>
            <a:pPr>
              <a:defRPr sz="2200"/>
            </a:pPr>
            <a:r>
              <a:rPr/>
              <a:t>• </a:t>
            </a:r>
            <a:r>
              <a:rPr smtClean="0"/>
              <a:t>Skills</a:t>
            </a:r>
            <a:endParaRPr lang="en-US" dirty="0" smtClean="0"/>
          </a:p>
          <a:p>
            <a:pPr>
              <a:defRPr sz="2200"/>
            </a:pPr>
            <a:r>
              <a:rPr lang="en-US" sz="1500" dirty="0" smtClean="0"/>
              <a:t>Both founders possess skills in business management, strategic planning, operational execution, customer relationship management, market development, problem-solving, and team coordination. They have expertise in understanding customer needs, managing business processes, driving growth initiatives, and implementing innovative solutions for sustainable enterprise development.</a:t>
            </a:r>
          </a:p>
          <a:p>
            <a:pPr>
              <a:defRPr sz="2200"/>
            </a:pPr>
            <a:endParaRPr/>
          </a:p>
          <a:p>
            <a:pPr>
              <a:defRPr sz="2200"/>
            </a:pPr>
            <a:r>
              <a:t>• Mentors &amp; support required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Idea Should Win</a:t>
            </a:r>
          </a:p>
        </p:txBody>
      </p:sp>
      <p:sp>
        <p:nvSpPr>
          <p:cNvPr id="3" name="Content Placeholder 2"/>
          <p:cNvSpPr>
            <a:spLocks noGrp="1"/>
          </p:cNvSpPr>
          <p:nvPr>
            <p:ph idx="1"/>
          </p:nvPr>
        </p:nvSpPr>
        <p:spPr/>
        <p:txBody>
          <a:bodyPr>
            <a:normAutofit fontScale="85000" lnSpcReduction="10000"/>
          </a:bodyPr>
          <a:lstStyle/>
          <a:p>
            <a:pPr>
              <a:defRPr sz="2200"/>
            </a:pPr>
            <a:r>
              <a:rPr/>
              <a:t>• </a:t>
            </a:r>
            <a:r>
              <a:rPr smtClean="0"/>
              <a:t>Innovation</a:t>
            </a:r>
            <a:endParaRPr lang="en-US" dirty="0" smtClean="0"/>
          </a:p>
          <a:p>
            <a:pPr>
              <a:defRPr sz="2200"/>
            </a:pPr>
            <a:r>
              <a:rPr lang="en-US" sz="1400" dirty="0" smtClean="0"/>
              <a:t>The innovation focuses on developing a technology-enabled mobility platform that connects passengers with verified drivers through smart ride aggregation, GPS tracking, digital payments, and safety features. It improves transportation accessibility, affordability, transparency, and efficiency, especially in emerging markets.</a:t>
            </a:r>
          </a:p>
          <a:p>
            <a:pPr>
              <a:defRPr sz="2200"/>
            </a:pPr>
            <a:endParaRPr/>
          </a:p>
          <a:p>
            <a:pPr>
              <a:defRPr sz="2200"/>
            </a:pPr>
            <a:r>
              <a:rPr/>
              <a:t>• </a:t>
            </a:r>
            <a:r>
              <a:rPr smtClean="0"/>
              <a:t>Scalability</a:t>
            </a:r>
            <a:endParaRPr lang="en-US" dirty="0" smtClean="0"/>
          </a:p>
          <a:p>
            <a:pPr>
              <a:defRPr sz="2200"/>
            </a:pPr>
            <a:r>
              <a:rPr lang="en-US" sz="1500" dirty="0" err="1" smtClean="0"/>
              <a:t>Speedopro</a:t>
            </a:r>
            <a:r>
              <a:rPr lang="en-US" sz="1500" dirty="0" smtClean="0"/>
              <a:t> India’s platform is designed for scalable expansion across Tier I, Tier II, and Tier III cities through a cloud-based architecture, standardized operations, and a growing driver-partner network. The model can be replicated in multiple regions with localized strategies, enabling sustainable growth and wider mobility access.</a:t>
            </a:r>
            <a:endParaRPr sz="1500"/>
          </a:p>
          <a:p>
            <a:pPr>
              <a:defRPr sz="2200"/>
            </a:pPr>
            <a:r>
              <a:rPr/>
              <a:t>• </a:t>
            </a:r>
            <a:r>
              <a:rPr smtClean="0"/>
              <a:t>Feasibility</a:t>
            </a:r>
            <a:r>
              <a:rPr lang="en-US" dirty="0" smtClean="0"/>
              <a:t/>
            </a:r>
            <a:br>
              <a:rPr lang="en-US" dirty="0" smtClean="0"/>
            </a:br>
            <a:r>
              <a:rPr lang="en-US" sz="1500" dirty="0" smtClean="0"/>
              <a:t> </a:t>
            </a:r>
            <a:r>
              <a:rPr lang="en-US" sz="1500" dirty="0" err="1" smtClean="0"/>
              <a:t>Speedopro</a:t>
            </a:r>
            <a:r>
              <a:rPr lang="en-US" sz="1500" dirty="0" smtClean="0"/>
              <a:t> India’s business model is feasible due to the increasing demand for digital mobility solutions, widespread </a:t>
            </a:r>
            <a:r>
              <a:rPr lang="en-US" sz="1500" dirty="0" err="1" smtClean="0"/>
              <a:t>smartphone</a:t>
            </a:r>
            <a:r>
              <a:rPr lang="en-US" sz="1500" dirty="0" smtClean="0"/>
              <a:t> adoption, and availability of supporting technologies like GPS, cloud infrastructure, and digital payments. The platform can be implemented through partnerships, verified driver networks, and scalable technology </a:t>
            </a:r>
            <a:r>
              <a:rPr lang="en-US" sz="1500" dirty="0" smtClean="0"/>
              <a:t>operations.</a:t>
            </a:r>
            <a:endParaRPr sz="1500"/>
          </a:p>
          <a:p>
            <a:pPr>
              <a:defRPr sz="2200"/>
            </a:pPr>
            <a:r>
              <a:t>• </a:t>
            </a:r>
            <a:r>
              <a:rPr/>
              <a:t>National </a:t>
            </a:r>
            <a:r>
              <a:rPr smtClean="0"/>
              <a:t>impact</a:t>
            </a:r>
            <a:endParaRPr lang="en-US" dirty="0" smtClean="0"/>
          </a:p>
          <a:p>
            <a:pPr>
              <a:defRPr sz="2200"/>
            </a:pPr>
            <a:r>
              <a:rPr lang="en-US" sz="1800" dirty="0" err="1" smtClean="0"/>
              <a:t>Speedopro</a:t>
            </a:r>
            <a:r>
              <a:rPr lang="en-US" sz="1800" dirty="0" smtClean="0"/>
              <a:t> India can create national impact by improving affordable and accessible transportation services across urban and semi-urban regions. The platform will generate employment opportunities for driver partners, promote digital mobility adoption, enhance passenger safety, and support the development of an organized transportation ecosystem across India.</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a:defRPr sz="2200"/>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TotalTime>
  <Words>1553</Words>
  <Application>Microsoft Office PowerPoint</Application>
  <PresentationFormat>On-screen Show (4:3)</PresentationFormat>
  <Paragraphs>107</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Winning Idea Presentation</vt:lpstr>
      <vt:lpstr>Problem Statement</vt:lpstr>
      <vt:lpstr>Proposed Solution</vt:lpstr>
      <vt:lpstr>Innovation &amp; Novelty</vt:lpstr>
      <vt:lpstr>Technology</vt:lpstr>
      <vt:lpstr>Market Opportunity</vt:lpstr>
      <vt:lpstr>Business Model</vt:lpstr>
      <vt:lpstr>Impact</vt:lpstr>
      <vt:lpstr>Development Plan</vt:lpstr>
      <vt:lpstr>Team</vt:lpstr>
      <vt:lpstr>Why This Idea Should Win</vt:lpstr>
      <vt:lpstr>Thank You</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Winning Idea Presentation</dc:title>
  <dc:creator>Student</dc:creator>
  <dc:description>generated using python-pptx</dc:description>
  <cp:lastModifiedBy>Work</cp:lastModifiedBy>
  <cp:revision>9</cp:revision>
  <dcterms:created xsi:type="dcterms:W3CDTF">2013-01-27T09:14:16Z</dcterms:created>
  <dcterms:modified xsi:type="dcterms:W3CDTF">2026-08-01T13:26:35Z</dcterms:modified>
</cp:coreProperties>
</file>